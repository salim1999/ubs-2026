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7" r:id="rId3"/>
    <p:sldId id="262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19" autoAdjust="0"/>
  </p:normalViewPr>
  <p:slideViewPr>
    <p:cSldViewPr snapToGrid="0" snapToObjects="1">
      <p:cViewPr>
        <p:scale>
          <a:sx n="50" d="100"/>
          <a:sy n="50" d="100"/>
        </p:scale>
        <p:origin x="799" y="-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20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It’s Swiss AI Week —As you know we worked on the UBS Challenge: </a:t>
            </a:r>
          </a:p>
          <a:p>
            <a:r>
              <a:rPr lang="en-US"/>
              <a:t>to predict and accounts next recurring transaction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and we thought we could push this one step further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And found a solution that is beyond.</a:t>
            </a:r>
          </a:p>
          <a:p>
            <a:endParaRPr lang="en-US"/>
          </a:p>
          <a:p>
            <a:r>
              <a:rPr lang="en-US"/>
              <a:t>Because a forecast is only useful if you can understand it — and make a decision based on it.</a:t>
            </a:r>
          </a:p>
          <a:p>
            <a:endParaRPr lang="en-US"/>
          </a:p>
          <a:p>
            <a:r>
              <a:rPr lang="en-US"/>
              <a:t>We focused on **interpretability**.</a:t>
            </a:r>
          </a:p>
          <a:p>
            <a:r>
              <a:rPr lang="en-US"/>
              <a:t>So before before asking  *Whhat model to use?* </a:t>
            </a:r>
          </a:p>
          <a:p>
            <a:r>
              <a:rPr lang="en-US"/>
              <a:t>We use the most simple model with the best inputs.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9C03-6DCF-448F-0032-DD54BF0E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A15A7-A59F-A5B6-F6D4-3ECC8C7D3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9AF90-3405-172D-768E-A68AB89F8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Using a linear model became the core of our approach.</a:t>
            </a:r>
          </a:p>
          <a:p>
            <a:endParaRPr lang="en-US"/>
          </a:p>
          <a:p>
            <a:r>
              <a:rPr lang="en-US"/>
              <a:t>We focus on engineering interpretable features.</a:t>
            </a:r>
          </a:p>
          <a:p>
            <a:endParaRPr lang="en-US"/>
          </a:p>
          <a:p>
            <a:r>
              <a:rPr lang="en-US"/>
              <a:t>And that means </a:t>
            </a:r>
            <a:r>
              <a:rPr lang="en-US" b="1"/>
              <a:t>there is no black box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We see behaviral patterns:</a:t>
            </a:r>
          </a:p>
          <a:p>
            <a:pPr marL="171450" indent="-171450">
              <a:buFontTx/>
              <a:buChar char="-"/>
            </a:pPr>
            <a:r>
              <a:rPr lang="en-US"/>
              <a:t>One that travels doesn’t cancel his subsrption</a:t>
            </a:r>
          </a:p>
          <a:p>
            <a:pPr marL="171450" indent="-171450">
              <a:buFontTx/>
              <a:buChar char="-"/>
            </a:pPr>
            <a:r>
              <a:rPr lang="en-US"/>
              <a:t>One that tries ist doesn’t persue it</a:t>
            </a:r>
          </a:p>
          <a:p>
            <a:endParaRPr lang="en-US"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CA5E9-EBD8-62B4-A70F-7D616CFC1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1742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There are more advantages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6B675F"/>
                </a:solidFill>
                <a:latin typeface="Arial"/>
              </a:rPr>
              <a:t>01</a:t>
            </a:r>
            <a:r>
              <a:rPr sz="1000" b="0" i="0">
                <a:solidFill>
                  <a:srgbClr val="6B675F"/>
                </a:solidFill>
                <a:latin typeface="Arial"/>
              </a:rPr>
              <a:t>    One step further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9495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6B675F"/>
                </a:solidFill>
                <a:latin typeface="Arial"/>
              </a:rPr>
              <a:t>UBS Challenge  ·  Transaction Activity Forecasting</a:t>
            </a:r>
          </a:p>
        </p:txBody>
      </p:sp>
      <p:sp>
        <p:nvSpPr>
          <p:cNvPr id="4" name="Hero"/>
          <p:cNvSpPr txBox="1"/>
          <p:nvPr/>
        </p:nvSpPr>
        <p:spPr>
          <a:xfrm>
            <a:off x="685800" y="1417320"/>
            <a:ext cx="10972800" cy="155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800" b="1" i="0" spc="-100">
                <a:solidFill>
                  <a:srgbClr val="111111"/>
                </a:solidFill>
                <a:latin typeface="Arial"/>
              </a:rPr>
              <a:t>SWISS AI WEEK</a:t>
            </a:r>
          </a:p>
        </p:txBody>
      </p:sp>
      <p:sp>
        <p:nvSpPr>
          <p:cNvPr id="5" name="Setup"/>
          <p:cNvSpPr txBox="1"/>
          <p:nvPr/>
        </p:nvSpPr>
        <p:spPr>
          <a:xfrm>
            <a:off x="685800" y="31546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i="0">
                <a:solidFill>
                  <a:srgbClr val="6B675F"/>
                </a:solidFill>
                <a:latin typeface="Arial"/>
              </a:rPr>
              <a:t>We thought we could push it one step further.</a:t>
            </a:r>
          </a:p>
        </p:txBody>
      </p:sp>
      <p:sp>
        <p:nvSpPr>
          <p:cNvPr id="6" name="Interpretability"/>
          <p:cNvSpPr txBox="1"/>
          <p:nvPr/>
        </p:nvSpPr>
        <p:spPr>
          <a:xfrm>
            <a:off x="685800" y="3630168"/>
            <a:ext cx="10972800" cy="1280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800" b="1" i="0" spc="-100">
                <a:solidFill>
                  <a:srgbClr val="E3302C"/>
                </a:solidFill>
                <a:latin typeface="Arial"/>
              </a:rPr>
              <a:t>INTERPRETABILITY</a:t>
            </a:r>
          </a:p>
        </p:txBody>
      </p:sp>
      <p:sp>
        <p:nvSpPr>
          <p:cNvPr id="7" name="Why"/>
          <p:cNvSpPr txBox="1"/>
          <p:nvPr/>
        </p:nvSpPr>
        <p:spPr>
          <a:xfrm>
            <a:off x="685800" y="507492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11111"/>
                </a:solidFill>
                <a:latin typeface="Arial"/>
              </a:rPr>
              <a:t>A forecast is only useful if you can understand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71330-2A6A-C20C-C55A-AAEE5FE0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263E7-35DE-D4B8-2BBE-DF70BDC93EC7}"/>
              </a:ext>
            </a:extLst>
          </p:cNvPr>
          <p:cNvSpPr txBox="1"/>
          <p:nvPr/>
        </p:nvSpPr>
        <p:spPr>
          <a:xfrm>
            <a:off x="68580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The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5E631-5600-358C-BC76-47F18B8E4A75}"/>
              </a:ext>
            </a:extLst>
          </p:cNvPr>
          <p:cNvSpPr txBox="1"/>
          <p:nvPr/>
        </p:nvSpPr>
        <p:spPr>
          <a:xfrm>
            <a:off x="6019495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UBS Challenge  ·  Transaction Activity Forecasting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164825E-2B84-3955-2B77-5A3F0C31380F}"/>
              </a:ext>
            </a:extLst>
          </p:cNvPr>
          <p:cNvSpPr txBox="1"/>
          <p:nvPr/>
        </p:nvSpPr>
        <p:spPr>
          <a:xfrm>
            <a:off x="685800" y="82296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5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Every feature is a (linear) behavior</a:t>
            </a:r>
          </a:p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5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can name – </a:t>
            </a:r>
            <a:r>
              <a:rPr kumimoji="0" sz="4000" b="1" i="0" u="none" strike="noStrike" kern="1200" cap="none" spc="-50" normalizeH="0" baseline="0" noProof="0">
                <a:ln>
                  <a:noFill/>
                </a:ln>
                <a:solidFill>
                  <a:srgbClr val="E3302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Black Box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F8750E-3625-22C2-7B44-90FE2DA5C47B}"/>
              </a:ext>
            </a:extLst>
          </p:cNvPr>
          <p:cNvSpPr txBox="1"/>
          <p:nvPr/>
        </p:nvSpPr>
        <p:spPr>
          <a:xfrm>
            <a:off x="1219202" y="3237178"/>
            <a:ext cx="3300984" cy="594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5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38% → 20%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B137F-6768-8F3C-6EE1-FDAB16795EED}"/>
              </a:ext>
            </a:extLst>
          </p:cNvPr>
          <p:cNvSpPr txBox="1"/>
          <p:nvPr/>
        </p:nvSpPr>
        <p:spPr>
          <a:xfrm>
            <a:off x="1219202" y="3819346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Travellers stay.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27D34-E84F-71B6-DD77-4611B5D452A4}"/>
              </a:ext>
            </a:extLst>
          </p:cNvPr>
          <p:cNvSpPr txBox="1"/>
          <p:nvPr/>
        </p:nvSpPr>
        <p:spPr>
          <a:xfrm>
            <a:off x="1219202" y="4121098"/>
            <a:ext cx="31638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Least-travelled quarter: 38% end with nothing recurring. Most-travelled: 20%.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F1C414-04FE-B721-48B0-7BB0475EC570}"/>
              </a:ext>
            </a:extLst>
          </p:cNvPr>
          <p:cNvSpPr txBox="1"/>
          <p:nvPr/>
        </p:nvSpPr>
        <p:spPr>
          <a:xfrm>
            <a:off x="1219202" y="4578298"/>
            <a:ext cx="33009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traveler_intensity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087EEA-F402-C121-9D8E-07AAC1818A5B}"/>
              </a:ext>
            </a:extLst>
          </p:cNvPr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‘Nothing recurring’ = no subscription payment in the 90 days after 1 January 2026. Rates on the 2,000 training clients; every pattern repeats on the 1,000 validation clients.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51B05EA3-44BA-0F72-005A-2FAF486C8FFA}"/>
              </a:ext>
            </a:extLst>
          </p:cNvPr>
          <p:cNvSpPr txBox="1"/>
          <p:nvPr/>
        </p:nvSpPr>
        <p:spPr>
          <a:xfrm>
            <a:off x="6689050" y="3177324"/>
            <a:ext cx="3300984" cy="594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5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67%</a:t>
            </a: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DD070214-362C-3505-36FD-AF1A2F76789E}"/>
              </a:ext>
            </a:extLst>
          </p:cNvPr>
          <p:cNvSpPr txBox="1"/>
          <p:nvPr/>
        </p:nvSpPr>
        <p:spPr>
          <a:xfrm>
            <a:off x="6710822" y="3824806"/>
            <a:ext cx="33009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Trials end.</a:t>
            </a: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E61D1ECC-C5F6-0769-F9A4-C43C082B8BD5}"/>
              </a:ext>
            </a:extLst>
          </p:cNvPr>
          <p:cNvSpPr txBox="1"/>
          <p:nvPr/>
        </p:nvSpPr>
        <p:spPr>
          <a:xfrm>
            <a:off x="6710822" y="4126558"/>
            <a:ext cx="316382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Only a 3–4-payment subscription running: 67% end with nothing recurring (vs 27%).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5951DC47-1C29-50B3-7082-EF7DD92836E0}"/>
              </a:ext>
            </a:extLst>
          </p:cNvPr>
          <p:cNvSpPr txBox="1"/>
          <p:nvPr/>
        </p:nvSpPr>
        <p:spPr>
          <a:xfrm>
            <a:off x="6710822" y="4583758"/>
            <a:ext cx="33009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B675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short_live_stream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D6BB0A4-9AC2-C94B-90C5-738337DDE824}"/>
              </a:ext>
            </a:extLst>
          </p:cNvPr>
          <p:cNvSpPr txBox="1"/>
          <p:nvPr/>
        </p:nvSpPr>
        <p:spPr>
          <a:xfrm>
            <a:off x="1078993" y="2794206"/>
            <a:ext cx="3558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spc="-50">
                <a:solidFill>
                  <a:srgbClr val="E3302C"/>
                </a:solidFill>
                <a:latin typeface="Arial"/>
              </a:rPr>
              <a:t>Travellers stick</a:t>
            </a:r>
            <a:endParaRPr lang="de-CH" sz="240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CBD3E2C-F071-A5C2-9941-B6BBD6CC13A1}"/>
              </a:ext>
            </a:extLst>
          </p:cNvPr>
          <p:cNvSpPr txBox="1"/>
          <p:nvPr/>
        </p:nvSpPr>
        <p:spPr>
          <a:xfrm>
            <a:off x="6618515" y="27833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1" spc="-50">
                <a:solidFill>
                  <a:srgbClr val="E3302C"/>
                </a:solidFill>
                <a:latin typeface="Arial"/>
              </a:rPr>
              <a:t>If you try it – you dont like it</a:t>
            </a:r>
            <a:endParaRPr lang="de-CH" sz="2400"/>
          </a:p>
        </p:txBody>
      </p:sp>
    </p:spTree>
    <p:extLst>
      <p:ext uri="{BB962C8B-B14F-4D97-AF65-F5344CB8AC3E}">
        <p14:creationId xmlns:p14="http://schemas.microsoft.com/office/powerpoint/2010/main" val="179061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7A39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05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7A39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What UBS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9495" y="3840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7A39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UBS Challenge  ·  Transaction Activity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85340"/>
            <a:ext cx="128016" cy="128016"/>
          </a:xfrm>
          <a:prstGeom prst="rect">
            <a:avLst/>
          </a:prstGeom>
          <a:solidFill>
            <a:srgbClr val="E3302C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Bullet 1"/>
          <p:cNvSpPr txBox="1"/>
          <p:nvPr/>
        </p:nvSpPr>
        <p:spPr>
          <a:xfrm>
            <a:off x="1143000" y="15544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3F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UBS doesn’t need </a:t>
            </a: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</a:t>
            </a: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3F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good forecast.</a:t>
            </a: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A7A39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It needs good forecasts across millions of accounts, fast.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35018"/>
            <a:ext cx="128016" cy="128016"/>
          </a:xfrm>
          <a:prstGeom prst="rect">
            <a:avLst/>
          </a:prstGeom>
          <a:solidFill>
            <a:srgbClr val="E3302C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Bullet 3"/>
          <p:cNvSpPr txBox="1"/>
          <p:nvPr/>
        </p:nvSpPr>
        <p:spPr>
          <a:xfrm>
            <a:off x="1143000" y="2804158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3F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Our approach is </a:t>
            </a: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simple</a:t>
            </a:r>
            <a:r>
              <a:rPr kumimoji="0" lang="de-CH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fast</a:t>
            </a: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3F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A7A39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de-CH" sz="2800">
                <a:solidFill>
                  <a:srgbClr val="A7A39B"/>
                </a:solidFill>
                <a:latin typeface="Arial"/>
              </a:rPr>
              <a:t>You will be able to understand it within 10 minutes.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A7A39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4169458"/>
            <a:ext cx="128016" cy="128016"/>
          </a:xfrm>
          <a:prstGeom prst="rect">
            <a:avLst/>
          </a:prstGeom>
          <a:solidFill>
            <a:srgbClr val="E3302C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Bullet 4"/>
          <p:cNvSpPr txBox="1"/>
          <p:nvPr/>
        </p:nvSpPr>
        <p:spPr>
          <a:xfrm>
            <a:off x="1143000" y="4038598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 b="1">
                <a:solidFill>
                  <a:srgbClr val="F3F0E8"/>
                </a:solidFill>
              </a:rPr>
              <a:t>We give you the </a:t>
            </a:r>
            <a:r>
              <a:rPr lang="en-US" sz="2800" b="1">
                <a:solidFill>
                  <a:srgbClr val="FF0000"/>
                </a:solidFill>
              </a:rPr>
              <a:t>best and safest for your money</a:t>
            </a:r>
            <a:r>
              <a:rPr lang="en-US" sz="2800" i="1">
                <a:solidFill>
                  <a:srgbClr val="FF0000"/>
                </a:solidFill>
                <a:latin typeface="Cambria"/>
              </a:rPr>
              <a:t> </a:t>
            </a:r>
            <a:endParaRPr lang="en-US" sz="2800" i="1">
              <a:solidFill>
                <a:srgbClr val="A7A39B"/>
              </a:solidFill>
              <a:latin typeface="Cambria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1" u="none" strike="noStrike" kern="1200" cap="none" spc="0" normalizeH="0" baseline="0" noProof="0">
              <a:ln>
                <a:noFill/>
              </a:ln>
              <a:solidFill>
                <a:srgbClr val="A7A39B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3" name="Bullet 1">
            <a:extLst>
              <a:ext uri="{FF2B5EF4-FFF2-40B4-BE49-F238E27FC236}">
                <a16:creationId xmlns:a16="http://schemas.microsoft.com/office/drawing/2014/main" id="{BD74FA2D-DD54-8044-D96B-0D7C87EB8B2D}"/>
              </a:ext>
            </a:extLst>
          </p:cNvPr>
          <p:cNvSpPr txBox="1"/>
          <p:nvPr/>
        </p:nvSpPr>
        <p:spPr>
          <a:xfrm>
            <a:off x="838047" y="7043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Several benefits….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0DF1FC7-F4EE-ADE9-916D-8ECB51448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" y="283"/>
            <a:ext cx="12184896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5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Breitbild</PresentationFormat>
  <Paragraphs>49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Cambria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Interpretability at scale</dc:title>
  <dc:subject/>
  <dc:creator>Reinicke  Tim</dc:creator>
  <cp:keywords/>
  <dc:description>generated using python-pptx</dc:description>
  <cp:lastModifiedBy>Reinicke  Tim</cp:lastModifiedBy>
  <cp:revision>7</cp:revision>
  <dcterms:created xsi:type="dcterms:W3CDTF">2013-01-27T09:14:16Z</dcterms:created>
  <dcterms:modified xsi:type="dcterms:W3CDTF">2026-09-25T13:47:18Z</dcterms:modified>
  <cp:category/>
</cp:coreProperties>
</file>